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a96297dca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39a96297dca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9a96297dca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a96297dca_2_1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9a96297dca_2_1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9a96297dca_2_1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a96297dca_2_3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9a96297dca_2_3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9a96297dca_2_3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a96297dca_2_5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9a96297dca_2_5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9a96297dca_2_5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a96297dca_2_7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9a96297dca_2_7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9a96297dca_2_7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a96297dca_2_8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9a96297dca_2_8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9a96297dca_2_8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a96297dca_2_10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9a96297dca_2_10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9a96297dca_2_10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a96297dca_2_13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9a96297dca_2_13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9a96297dca_2_13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a96297dca_2_16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9a96297dca_2_16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9a96297dca_2_16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9a96297dca_2_20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9a96297dca_2_20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9a96297dca_2_20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9a96297dca_2_24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39a96297dca_2_24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9a96297dca_2_24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-GB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Credit Card Fraud Detection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6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3200"/>
              <a:buFont typeface="Calibri"/>
              <a:buNone/>
            </a:pPr>
            <a:r>
              <a:rPr b="0" i="0" lang="en-GB" sz="3200" u="none" cap="none" strike="noStrike">
                <a:solidFill>
                  <a:srgbClr val="3498DB"/>
                </a:solidFill>
                <a:latin typeface="Calibri"/>
                <a:ea typeface="Calibri"/>
                <a:cs typeface="Calibri"/>
                <a:sym typeface="Calibri"/>
              </a:rPr>
              <a:t>Machine Learning Project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6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Building a Production-Ready Fraud Detection System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6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400"/>
              <a:buFont typeface="Calibri"/>
              <a:buNone/>
            </a:pPr>
            <a:r>
              <a:rPr b="0" i="1" lang="en-GB" sz="14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Authors: Ramesh Bartaula &amp; Niraj K Mali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libri"/>
              <a:buNone/>
            </a:pPr>
            <a:r>
              <a:rPr b="1" i="0" lang="en-GB" sz="4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📊 Dataset Overview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7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7"/>
          <p:cNvSpPr/>
          <p:nvPr/>
        </p:nvSpPr>
        <p:spPr>
          <a:xfrm>
            <a:off x="457200" y="1371600"/>
            <a:ext cx="3931920" cy="914400"/>
          </a:xfrm>
          <a:prstGeom prst="rect">
            <a:avLst/>
          </a:prstGeom>
          <a:solidFill>
            <a:srgbClr val="ECF0F1"/>
          </a:solidFill>
          <a:ln cap="flat" cmpd="sng" w="254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7"/>
          <p:cNvSpPr/>
          <p:nvPr/>
        </p:nvSpPr>
        <p:spPr>
          <a:xfrm>
            <a:off x="640080" y="15087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Total Transactions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7"/>
          <p:cNvSpPr/>
          <p:nvPr/>
        </p:nvSpPr>
        <p:spPr>
          <a:xfrm>
            <a:off x="640080" y="17830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2800"/>
              <a:buFont typeface="Calibri"/>
              <a:buNone/>
            </a:pPr>
            <a:r>
              <a:rPr b="1" i="0" lang="en-GB" sz="28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100,000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457200" y="2651760"/>
            <a:ext cx="3931920" cy="914400"/>
          </a:xfrm>
          <a:prstGeom prst="rect">
            <a:avLst/>
          </a:prstGeom>
          <a:solidFill>
            <a:srgbClr val="ECF0F1"/>
          </a:solidFill>
          <a:ln cap="flat" cmpd="sng" w="254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7"/>
          <p:cNvSpPr/>
          <p:nvPr/>
        </p:nvSpPr>
        <p:spPr>
          <a:xfrm>
            <a:off x="640080" y="278892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Fraudulent Cases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640080" y="30632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2800"/>
              <a:buFont typeface="Calibri"/>
              <a:buNone/>
            </a:pPr>
            <a:r>
              <a:rPr b="1" i="0" lang="en-GB" sz="28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1,000 (1%)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457200" y="3931920"/>
            <a:ext cx="3931920" cy="914400"/>
          </a:xfrm>
          <a:prstGeom prst="rect">
            <a:avLst/>
          </a:prstGeom>
          <a:solidFill>
            <a:srgbClr val="ECF0F1"/>
          </a:solidFill>
          <a:ln cap="flat" cmpd="sng" w="254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/>
          <p:nvPr/>
        </p:nvSpPr>
        <p:spPr>
          <a:xfrm>
            <a:off x="640080" y="406908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Legitimate Cases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640080" y="434340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2800"/>
              <a:buFont typeface="Calibri"/>
              <a:buNone/>
            </a:pPr>
            <a:r>
              <a:rPr b="1" i="0" lang="en-GB" sz="28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99,000 (99%)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457200" y="5212080"/>
            <a:ext cx="3931920" cy="914400"/>
          </a:xfrm>
          <a:prstGeom prst="rect">
            <a:avLst/>
          </a:prstGeom>
          <a:solidFill>
            <a:srgbClr val="ECF0F1"/>
          </a:solidFill>
          <a:ln cap="flat" cmpd="sng" w="254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/>
          <p:nvPr/>
        </p:nvSpPr>
        <p:spPr>
          <a:xfrm>
            <a:off x="640080" y="53492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Class Imbalance Ratio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640080" y="562356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2800"/>
              <a:buFont typeface="Calibri"/>
              <a:buNone/>
            </a:pPr>
            <a:r>
              <a:rPr b="1" i="0" lang="en-GB" sz="28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99:1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4663440" y="1371600"/>
            <a:ext cx="4023360" cy="4480560"/>
          </a:xfrm>
          <a:prstGeom prst="rect">
            <a:avLst/>
          </a:prstGeom>
          <a:solidFill>
            <a:srgbClr val="FFF5F5"/>
          </a:solidFill>
          <a:ln cap="flat" cmpd="sng" w="254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/>
          <p:nvPr/>
        </p:nvSpPr>
        <p:spPr>
          <a:xfrm>
            <a:off x="4937760" y="15544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2000"/>
              <a:buFont typeface="Calibri"/>
              <a:buNone/>
            </a:pPr>
            <a:r>
              <a:rPr b="1" i="0" lang="en-GB" sz="20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The Challenge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4937760" y="21031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🔴 Extreme class imbalance (99.83% vs 0.17%)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4937760" y="260604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📊 Default threshold inadequate for imbalanced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4937760" y="310896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⚡ Outlier sensitivity in transaction amounts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4937760" y="361188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⚖️ Must balance catching fraud vs false alarms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4937760" y="411480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🎯 Need temporal &amp; behavioral patterns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/>
          <p:nvPr/>
        </p:nvSpPr>
        <p:spPr>
          <a:xfrm>
            <a:off x="0" y="36575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libri"/>
              <a:buNone/>
            </a:pPr>
            <a:r>
              <a:rPr b="1" i="0" lang="en-GB" sz="4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📊 </a:t>
            </a:r>
            <a:r>
              <a:rPr b="1" i="0" lang="en-GB" sz="2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Visualization 1: Distribution of Transaction Classes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uploads/1777929456266_image.png" id="99" name="Google Shape;9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275" y="920650"/>
            <a:ext cx="5363499" cy="383422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/>
          <p:nvPr/>
        </p:nvSpPr>
        <p:spPr>
          <a:xfrm>
            <a:off x="5760725" y="822950"/>
            <a:ext cx="3270900" cy="4320300"/>
          </a:xfrm>
          <a:prstGeom prst="rect">
            <a:avLst/>
          </a:prstGeom>
          <a:solidFill>
            <a:srgbClr val="FFE7E7"/>
          </a:solidFill>
          <a:ln cap="flat" cmpd="sng" w="254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/>
          <p:nvPr/>
        </p:nvSpPr>
        <p:spPr>
          <a:xfrm>
            <a:off x="5943600" y="12344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5943600" y="16459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GB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📌 Legitimate: 99%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5943600" y="1975104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GB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📌 Fraudulent: </a:t>
            </a:r>
            <a:r>
              <a:rPr lang="en-GB" sz="15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GB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5943600" y="230428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5943600" y="2633477"/>
            <a:ext cx="2560200" cy="5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GB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🎯 Extreme imbalance visible on logarithmic scale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5839450" y="3931231"/>
            <a:ext cx="25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5943675" y="4208321"/>
            <a:ext cx="2560200" cy="8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GB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⚠️ Challenge: Model must learn fraud patterns from rare examples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libri"/>
              <a:buNone/>
            </a:pPr>
            <a:r>
              <a:rPr b="1" i="0" lang="en-GB" sz="4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⏰ </a:t>
            </a:r>
            <a:r>
              <a:rPr b="1" i="0" lang="en-GB" sz="3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Visualization 2: Fraud Rate by Hour of Da</a:t>
            </a:r>
            <a:r>
              <a:rPr b="1" lang="en-GB" sz="3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uploads/1777929460271_image.png" id="114" name="Google Shape;11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650" y="889400"/>
            <a:ext cx="5644074" cy="417625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9"/>
          <p:cNvSpPr/>
          <p:nvPr/>
        </p:nvSpPr>
        <p:spPr>
          <a:xfrm>
            <a:off x="5943600" y="1097280"/>
            <a:ext cx="2743200" cy="3657600"/>
          </a:xfrm>
          <a:prstGeom prst="rect">
            <a:avLst/>
          </a:prstGeom>
          <a:solidFill>
            <a:srgbClr val="FFF8E7"/>
          </a:solidFill>
          <a:ln cap="flat" cmpd="sng" w="254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9"/>
          <p:cNvSpPr/>
          <p:nvPr/>
        </p:nvSpPr>
        <p:spPr>
          <a:xfrm>
            <a:off x="6126480" y="12344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400"/>
              <a:buFont typeface="Calibri"/>
              <a:buNone/>
            </a:pPr>
            <a:r>
              <a:rPr b="1" i="0" lang="en-GB" sz="15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Key Insights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6126480" y="16459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🔴</a:t>
            </a:r>
            <a:r>
              <a:rPr b="0" i="0" lang="en-GB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Peak hours: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6126480" y="194767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GB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GB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6PM</a:t>
            </a:r>
            <a:r>
              <a:rPr b="0" i="0" lang="en-GB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6126480" y="2249424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GB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4 PM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6126480" y="255117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GB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8 AM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6126480" y="285292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6126480" y="31546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GB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Lowest hours: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6126480" y="345643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GB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1 PM 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6126480" y="3758184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GB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5 PM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6126480" y="405993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6126480" y="436168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libri"/>
              <a:buNone/>
            </a:pPr>
            <a:r>
              <a:rPr b="1" i="0" lang="en-GB" sz="2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Visualization 3: Fraudulent Transactions by Day of Week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uploads/1777929464139_image.png" id="133" name="Google Shape;13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22950"/>
            <a:ext cx="5303526" cy="414897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0"/>
          <p:cNvSpPr/>
          <p:nvPr/>
        </p:nvSpPr>
        <p:spPr>
          <a:xfrm>
            <a:off x="5943600" y="822950"/>
            <a:ext cx="2743200" cy="4149000"/>
          </a:xfrm>
          <a:prstGeom prst="rect">
            <a:avLst/>
          </a:prstGeom>
          <a:solidFill>
            <a:srgbClr val="E7F5FF"/>
          </a:solidFill>
          <a:ln cap="flat" cmpd="sng" w="25400">
            <a:solidFill>
              <a:srgbClr val="3498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0"/>
          <p:cNvSpPr/>
          <p:nvPr/>
        </p:nvSpPr>
        <p:spPr>
          <a:xfrm>
            <a:off x="6126480" y="12344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400"/>
              <a:buFont typeface="Calibri"/>
              <a:buNone/>
            </a:pPr>
            <a:r>
              <a:rPr b="1" i="0" lang="en-GB" sz="1500" u="none" cap="none" strike="noStrike">
                <a:solidFill>
                  <a:srgbClr val="3498DB"/>
                </a:solidFill>
                <a:latin typeface="Calibri"/>
                <a:ea typeface="Calibri"/>
                <a:cs typeface="Calibri"/>
                <a:sym typeface="Calibri"/>
              </a:rPr>
              <a:t>Key Insights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5943605" y="1645920"/>
            <a:ext cx="237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GB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📍 Peak day: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0"/>
          <p:cNvSpPr/>
          <p:nvPr/>
        </p:nvSpPr>
        <p:spPr>
          <a:xfrm>
            <a:off x="6309355" y="1947610"/>
            <a:ext cx="237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GB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Sunday 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0"/>
          <p:cNvSpPr/>
          <p:nvPr/>
        </p:nvSpPr>
        <p:spPr>
          <a:xfrm>
            <a:off x="6126480" y="2249424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0"/>
          <p:cNvSpPr/>
          <p:nvPr/>
        </p:nvSpPr>
        <p:spPr>
          <a:xfrm>
            <a:off x="6126480" y="255117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GB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📍 Lowest day: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0"/>
          <p:cNvSpPr/>
          <p:nvPr/>
        </p:nvSpPr>
        <p:spPr>
          <a:xfrm>
            <a:off x="6126480" y="285292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GB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Saturday 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0"/>
          <p:cNvSpPr/>
          <p:nvPr/>
        </p:nvSpPr>
        <p:spPr>
          <a:xfrm>
            <a:off x="6126480" y="31546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0"/>
          <p:cNvSpPr/>
          <p:nvPr/>
        </p:nvSpPr>
        <p:spPr>
          <a:xfrm>
            <a:off x="6126480" y="345643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GB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🔄 End-of-week anomaly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0"/>
          <p:cNvSpPr/>
          <p:nvPr/>
        </p:nvSpPr>
        <p:spPr>
          <a:xfrm>
            <a:off x="6126480" y="3758184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GB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🔄 Weekend dip pattern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6126480" y="405993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0"/>
          <p:cNvSpPr/>
          <p:nvPr/>
        </p:nvSpPr>
        <p:spPr>
          <a:xfrm>
            <a:off x="6126480" y="436168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GB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✅ Day-of-week feature captures behavioral patterns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libri"/>
              <a:buNone/>
            </a:pPr>
            <a:r>
              <a:rPr b="1" i="0" lang="en-GB" sz="2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Visualization 4: Transaction Amount Distribution by Class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5943600" y="779125"/>
            <a:ext cx="2879700" cy="4255200"/>
          </a:xfrm>
          <a:prstGeom prst="rect">
            <a:avLst/>
          </a:prstGeom>
          <a:solidFill>
            <a:srgbClr val="E7FFE7"/>
          </a:solidFill>
          <a:ln cap="flat" cmpd="sng" w="254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1"/>
          <p:cNvSpPr/>
          <p:nvPr/>
        </p:nvSpPr>
        <p:spPr>
          <a:xfrm>
            <a:off x="6766505" y="1243640"/>
            <a:ext cx="237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Key Insights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1"/>
          <p:cNvSpPr/>
          <p:nvPr/>
        </p:nvSpPr>
        <p:spPr>
          <a:xfrm>
            <a:off x="6246805" y="1828845"/>
            <a:ext cx="237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0" i="0" lang="en-GB" sz="11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📊 Similar distributions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6126480" y="223113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0" i="0" lang="en-GB" sz="11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🔴 Fraud &amp; Legitimate show similar amount patterns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/>
          <p:cNvSpPr/>
          <p:nvPr/>
        </p:nvSpPr>
        <p:spPr>
          <a:xfrm>
            <a:off x="6126480" y="2523744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1"/>
          <p:cNvSpPr/>
          <p:nvPr/>
        </p:nvSpPr>
        <p:spPr>
          <a:xfrm>
            <a:off x="6126480" y="281635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0" i="0" lang="en-GB" sz="11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⚠️ Amount alone is weak discriminator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1"/>
          <p:cNvSpPr/>
          <p:nvPr/>
        </p:nvSpPr>
        <p:spPr>
          <a:xfrm>
            <a:off x="6126480" y="310896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1"/>
          <p:cNvSpPr/>
          <p:nvPr/>
        </p:nvSpPr>
        <p:spPr>
          <a:xfrm>
            <a:off x="6126480" y="340156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21" title="Screenshot 2026-05-05 1906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75349"/>
            <a:ext cx="5638799" cy="397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libri"/>
              <a:buNone/>
            </a:pPr>
            <a:r>
              <a:rPr b="1" i="0" lang="en-GB" sz="4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r>
              <a:rPr b="1" i="0" lang="en-GB" sz="3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Addressing Class Imbalance: SMOTE Solution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2"/>
          <p:cNvSpPr/>
          <p:nvPr/>
        </p:nvSpPr>
        <p:spPr>
          <a:xfrm>
            <a:off x="640080" y="128016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Before SMOTE (Training Data)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2"/>
          <p:cNvSpPr/>
          <p:nvPr/>
        </p:nvSpPr>
        <p:spPr>
          <a:xfrm>
            <a:off x="822960" y="1965960"/>
            <a:ext cx="320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Normal: 69,300 (99%)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2"/>
          <p:cNvSpPr/>
          <p:nvPr/>
        </p:nvSpPr>
        <p:spPr>
          <a:xfrm>
            <a:off x="640080" y="2926080"/>
            <a:ext cx="34800" cy="731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2"/>
          <p:cNvSpPr/>
          <p:nvPr/>
        </p:nvSpPr>
        <p:spPr>
          <a:xfrm>
            <a:off x="4480560" y="2194560"/>
            <a:ext cx="27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4000"/>
              <a:buFont typeface="Calibri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2"/>
          <p:cNvSpPr/>
          <p:nvPr/>
        </p:nvSpPr>
        <p:spPr>
          <a:xfrm>
            <a:off x="4846320" y="128016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After SMOTE (Balanced Training)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5029200" y="1965960"/>
            <a:ext cx="320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Normal: 9,300 (50%)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182800" y="1920300"/>
            <a:ext cx="4023300" cy="1737300"/>
          </a:xfrm>
          <a:prstGeom prst="rect">
            <a:avLst/>
          </a:prstGeom>
          <a:solidFill>
            <a:srgbClr val="FFE7E7"/>
          </a:solidFill>
          <a:ln cap="flat" cmpd="sng" w="254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2"/>
          <p:cNvSpPr/>
          <p:nvPr/>
        </p:nvSpPr>
        <p:spPr>
          <a:xfrm>
            <a:off x="365655" y="2103118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❌ Without SMOTE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2"/>
          <p:cNvSpPr/>
          <p:nvPr/>
        </p:nvSpPr>
        <p:spPr>
          <a:xfrm>
            <a:off x="365645" y="2434640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Model: "Always predict Normal"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2"/>
          <p:cNvSpPr/>
          <p:nvPr/>
        </p:nvSpPr>
        <p:spPr>
          <a:xfrm>
            <a:off x="365645" y="2766180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Accuracy: 99% (useless)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2"/>
          <p:cNvSpPr/>
          <p:nvPr/>
        </p:nvSpPr>
        <p:spPr>
          <a:xfrm>
            <a:off x="365645" y="3097695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Fraud caught: 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2"/>
          <p:cNvSpPr/>
          <p:nvPr/>
        </p:nvSpPr>
        <p:spPr>
          <a:xfrm>
            <a:off x="4572000" y="1920300"/>
            <a:ext cx="4023300" cy="1737300"/>
          </a:xfrm>
          <a:prstGeom prst="rect">
            <a:avLst/>
          </a:prstGeom>
          <a:solidFill>
            <a:srgbClr val="E7F5E7"/>
          </a:solidFill>
          <a:ln cap="flat" cmpd="sng" w="254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2"/>
          <p:cNvSpPr/>
          <p:nvPr/>
        </p:nvSpPr>
        <p:spPr>
          <a:xfrm>
            <a:off x="4617195" y="210313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✅ With SMOTE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2"/>
          <p:cNvSpPr/>
          <p:nvPr/>
        </p:nvSpPr>
        <p:spPr>
          <a:xfrm>
            <a:off x="4662960" y="2377315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Model learns fraud patterns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4662960" y="2606105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Accuracy: 67% (realistic)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4662960" y="2880295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Fraud caught: 62%+ 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libri"/>
              <a:buNone/>
            </a:pPr>
            <a:r>
              <a:rPr b="1" i="0" lang="en-GB" sz="4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r>
              <a:rPr b="1" i="0" lang="en-GB" sz="2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Model Results: Performance Comparison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3"/>
          <p:cNvSpPr/>
          <p:nvPr/>
        </p:nvSpPr>
        <p:spPr>
          <a:xfrm>
            <a:off x="640080" y="1280160"/>
            <a:ext cx="7863840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3"/>
          <p:cNvSpPr/>
          <p:nvPr/>
        </p:nvSpPr>
        <p:spPr>
          <a:xfrm>
            <a:off x="822960" y="13716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Metric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/>
          <p:cNvSpPr/>
          <p:nvPr/>
        </p:nvSpPr>
        <p:spPr>
          <a:xfrm>
            <a:off x="3200400" y="13716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3"/>
          <p:cNvSpPr/>
          <p:nvPr/>
        </p:nvSpPr>
        <p:spPr>
          <a:xfrm>
            <a:off x="5943600" y="13716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3"/>
          <p:cNvSpPr/>
          <p:nvPr/>
        </p:nvSpPr>
        <p:spPr>
          <a:xfrm>
            <a:off x="640080" y="1737360"/>
            <a:ext cx="7863840" cy="502920"/>
          </a:xfrm>
          <a:prstGeom prst="rect">
            <a:avLst/>
          </a:prstGeom>
          <a:solidFill>
            <a:srgbClr val="ECF0F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3"/>
          <p:cNvSpPr/>
          <p:nvPr/>
        </p:nvSpPr>
        <p:spPr>
          <a:xfrm>
            <a:off x="822960" y="184708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3"/>
          <p:cNvSpPr/>
          <p:nvPr/>
        </p:nvSpPr>
        <p:spPr>
          <a:xfrm>
            <a:off x="3200400" y="184708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3498DB"/>
                </a:solidFill>
                <a:latin typeface="Calibri"/>
                <a:ea typeface="Calibri"/>
                <a:cs typeface="Calibri"/>
                <a:sym typeface="Calibri"/>
              </a:rPr>
              <a:t>0.67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3"/>
          <p:cNvSpPr/>
          <p:nvPr/>
        </p:nvSpPr>
        <p:spPr>
          <a:xfrm>
            <a:off x="5943600" y="184708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3498DB"/>
                </a:solidFill>
                <a:latin typeface="Calibri"/>
                <a:ea typeface="Calibri"/>
                <a:cs typeface="Calibri"/>
                <a:sym typeface="Calibri"/>
              </a:rPr>
              <a:t>0.67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3"/>
          <p:cNvSpPr/>
          <p:nvPr/>
        </p:nvSpPr>
        <p:spPr>
          <a:xfrm>
            <a:off x="640080" y="2286000"/>
            <a:ext cx="786384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3"/>
          <p:cNvSpPr/>
          <p:nvPr/>
        </p:nvSpPr>
        <p:spPr>
          <a:xfrm>
            <a:off x="822960" y="239572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3"/>
          <p:cNvSpPr/>
          <p:nvPr/>
        </p:nvSpPr>
        <p:spPr>
          <a:xfrm>
            <a:off x="3200400" y="239572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0.66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3"/>
          <p:cNvSpPr/>
          <p:nvPr/>
        </p:nvSpPr>
        <p:spPr>
          <a:xfrm>
            <a:off x="5943600" y="239572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0.62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640080" y="2834640"/>
            <a:ext cx="7863840" cy="502920"/>
          </a:xfrm>
          <a:prstGeom prst="rect">
            <a:avLst/>
          </a:prstGeom>
          <a:solidFill>
            <a:srgbClr val="ECF0F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3"/>
          <p:cNvSpPr/>
          <p:nvPr/>
        </p:nvSpPr>
        <p:spPr>
          <a:xfrm>
            <a:off x="822960" y="294436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AUC-ROC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3200400" y="294436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3498DB"/>
                </a:solidFill>
                <a:latin typeface="Calibri"/>
                <a:ea typeface="Calibri"/>
                <a:cs typeface="Calibri"/>
                <a:sym typeface="Calibri"/>
              </a:rPr>
              <a:t>0.73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5943600" y="294436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3498DB"/>
                </a:solidFill>
                <a:latin typeface="Calibri"/>
                <a:ea typeface="Calibri"/>
                <a:cs typeface="Calibri"/>
                <a:sym typeface="Calibri"/>
              </a:rPr>
              <a:t>0.72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640055" y="3383282"/>
            <a:ext cx="7863900" cy="1645800"/>
          </a:xfrm>
          <a:prstGeom prst="rect">
            <a:avLst/>
          </a:prstGeom>
          <a:solidFill>
            <a:srgbClr val="FFF8E7"/>
          </a:solidFill>
          <a:ln cap="flat" cmpd="sng" w="254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3"/>
          <p:cNvSpPr/>
          <p:nvPr/>
        </p:nvSpPr>
        <p:spPr>
          <a:xfrm>
            <a:off x="685800" y="3460975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🏆 Winner: Logistic Regression (Baseline)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914425" y="3767450"/>
            <a:ext cx="7315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Higher recall (0.66 vs 0.62) — catches more fraud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914425" y="4023358"/>
            <a:ext cx="7315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Better AUC-ROC (0.73 vs 0.72) — better discrimination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914425" y="4281665"/>
            <a:ext cx="7315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Simpler model = faster inference in production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914425" y="4521535"/>
            <a:ext cx="7315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Same accuracy (0.67) with better fraud detection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4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libri"/>
              <a:buNone/>
            </a:pPr>
            <a:r>
              <a:rPr b="1" i="0" lang="en-GB" sz="4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r>
              <a:rPr b="1" i="0" lang="en-GB" sz="3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Confusion Matrix &amp; Threshold Tuning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4"/>
          <p:cNvSpPr/>
          <p:nvPr/>
        </p:nvSpPr>
        <p:spPr>
          <a:xfrm>
            <a:off x="548640" y="11887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Confusion Matrix (Threshold = 0.25)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4"/>
          <p:cNvSpPr/>
          <p:nvPr/>
        </p:nvSpPr>
        <p:spPr>
          <a:xfrm>
            <a:off x="856100" y="1627613"/>
            <a:ext cx="50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b="1" i="0" lang="en-GB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Act: Normal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4"/>
          <p:cNvSpPr/>
          <p:nvPr/>
        </p:nvSpPr>
        <p:spPr>
          <a:xfrm>
            <a:off x="879950" y="2194489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b="1" i="0" lang="en-GB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Act: Fraud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4"/>
          <p:cNvSpPr/>
          <p:nvPr/>
        </p:nvSpPr>
        <p:spPr>
          <a:xfrm>
            <a:off x="1538705" y="1623063"/>
            <a:ext cx="640200" cy="502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4"/>
          <p:cNvSpPr/>
          <p:nvPr/>
        </p:nvSpPr>
        <p:spPr>
          <a:xfrm>
            <a:off x="1538700" y="1680274"/>
            <a:ext cx="6402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20,034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4"/>
          <p:cNvSpPr/>
          <p:nvPr/>
        </p:nvSpPr>
        <p:spPr>
          <a:xfrm>
            <a:off x="2517200" y="1600200"/>
            <a:ext cx="640200" cy="502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4"/>
          <p:cNvSpPr/>
          <p:nvPr/>
        </p:nvSpPr>
        <p:spPr>
          <a:xfrm>
            <a:off x="2517200" y="1691613"/>
            <a:ext cx="64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9,666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4"/>
          <p:cNvSpPr/>
          <p:nvPr/>
        </p:nvSpPr>
        <p:spPr>
          <a:xfrm>
            <a:off x="1538768" y="2194498"/>
            <a:ext cx="640200" cy="502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/>
          <p:nvPr/>
        </p:nvSpPr>
        <p:spPr>
          <a:xfrm>
            <a:off x="1538768" y="2285900"/>
            <a:ext cx="64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4"/>
          <p:cNvSpPr/>
          <p:nvPr/>
        </p:nvSpPr>
        <p:spPr>
          <a:xfrm>
            <a:off x="2517263" y="2171698"/>
            <a:ext cx="640200" cy="502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4"/>
          <p:cNvSpPr/>
          <p:nvPr/>
        </p:nvSpPr>
        <p:spPr>
          <a:xfrm>
            <a:off x="2517200" y="2285975"/>
            <a:ext cx="64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4"/>
          <p:cNvSpPr/>
          <p:nvPr/>
        </p:nvSpPr>
        <p:spPr>
          <a:xfrm>
            <a:off x="640074" y="2889475"/>
            <a:ext cx="1538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GB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TN: 20,034  |  FP: 9,666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4"/>
          <p:cNvSpPr/>
          <p:nvPr/>
        </p:nvSpPr>
        <p:spPr>
          <a:xfrm>
            <a:off x="640077" y="3127250"/>
            <a:ext cx="1371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GB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FN: 115  |  TP: 185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4"/>
          <p:cNvSpPr/>
          <p:nvPr/>
        </p:nvSpPr>
        <p:spPr>
          <a:xfrm>
            <a:off x="457205" y="3428750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Fraud Detection Rate: 61.7%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4"/>
          <p:cNvSpPr/>
          <p:nvPr/>
        </p:nvSpPr>
        <p:spPr>
          <a:xfrm>
            <a:off x="4754880" y="11887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Threshold Optimization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4"/>
          <p:cNvSpPr/>
          <p:nvPr/>
        </p:nvSpPr>
        <p:spPr>
          <a:xfrm>
            <a:off x="4846320" y="160020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Threshold  |  Recall  |  Caught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4"/>
          <p:cNvSpPr/>
          <p:nvPr/>
        </p:nvSpPr>
        <p:spPr>
          <a:xfrm>
            <a:off x="4846320" y="1874520"/>
            <a:ext cx="3474720" cy="274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4"/>
          <p:cNvSpPr/>
          <p:nvPr/>
        </p:nvSpPr>
        <p:spPr>
          <a:xfrm>
            <a:off x="4937760" y="1901952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onsolas"/>
              <a:buNone/>
            </a:pPr>
            <a:r>
              <a:rPr b="0" i="0" lang="en-GB" sz="1000" u="none" cap="none" strike="noStrike">
                <a:solidFill>
                  <a:srgbClr val="2C3E50"/>
                </a:solidFill>
                <a:latin typeface="Consolas"/>
                <a:ea typeface="Consolas"/>
                <a:cs typeface="Consolas"/>
                <a:sym typeface="Consolas"/>
              </a:rPr>
              <a:t>0.20     0.95     284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4"/>
          <p:cNvSpPr/>
          <p:nvPr/>
        </p:nvSpPr>
        <p:spPr>
          <a:xfrm>
            <a:off x="4846320" y="2167128"/>
            <a:ext cx="3474720" cy="274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/>
          <p:nvPr/>
        </p:nvSpPr>
        <p:spPr>
          <a:xfrm>
            <a:off x="4937760" y="2194560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onsolas"/>
              <a:buNone/>
            </a:pPr>
            <a:r>
              <a:rPr b="0" i="0" lang="en-GB" sz="1000" u="none" cap="none" strike="noStrike">
                <a:solidFill>
                  <a:srgbClr val="2C3E50"/>
                </a:solidFill>
                <a:latin typeface="Consolas"/>
                <a:ea typeface="Consolas"/>
                <a:cs typeface="Consolas"/>
                <a:sym typeface="Consolas"/>
              </a:rPr>
              <a:t>0.25     0.92     276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4"/>
          <p:cNvSpPr/>
          <p:nvPr/>
        </p:nvSpPr>
        <p:spPr>
          <a:xfrm>
            <a:off x="4846320" y="2459736"/>
            <a:ext cx="3474720" cy="274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4"/>
          <p:cNvSpPr/>
          <p:nvPr/>
        </p:nvSpPr>
        <p:spPr>
          <a:xfrm>
            <a:off x="4937760" y="2487168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onsolas"/>
              <a:buNone/>
            </a:pPr>
            <a:r>
              <a:rPr b="0" i="0" lang="en-GB" sz="1000" u="none" cap="none" strike="noStrike">
                <a:solidFill>
                  <a:srgbClr val="2C3E50"/>
                </a:solidFill>
                <a:latin typeface="Consolas"/>
                <a:ea typeface="Consolas"/>
                <a:cs typeface="Consolas"/>
                <a:sym typeface="Consolas"/>
              </a:rPr>
              <a:t>0.30     0.85     256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4"/>
          <p:cNvSpPr/>
          <p:nvPr/>
        </p:nvSpPr>
        <p:spPr>
          <a:xfrm>
            <a:off x="4846320" y="2752344"/>
            <a:ext cx="3474720" cy="274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4"/>
          <p:cNvSpPr/>
          <p:nvPr/>
        </p:nvSpPr>
        <p:spPr>
          <a:xfrm>
            <a:off x="4937760" y="2779776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onsolas"/>
              <a:buNone/>
            </a:pPr>
            <a:r>
              <a:rPr b="0" i="0" lang="en-GB" sz="1000" u="none" cap="none" strike="noStrike">
                <a:solidFill>
                  <a:srgbClr val="2C3E50"/>
                </a:solidFill>
                <a:latin typeface="Consolas"/>
                <a:ea typeface="Consolas"/>
                <a:cs typeface="Consolas"/>
                <a:sym typeface="Consolas"/>
              </a:rPr>
              <a:t>0.35     0.78     235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4846320" y="3044952"/>
            <a:ext cx="3474720" cy="274320"/>
          </a:xfrm>
          <a:prstGeom prst="rect">
            <a:avLst/>
          </a:prstGeom>
          <a:solidFill>
            <a:srgbClr val="FFF8E7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4"/>
          <p:cNvSpPr/>
          <p:nvPr/>
        </p:nvSpPr>
        <p:spPr>
          <a:xfrm>
            <a:off x="4937760" y="3072384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onsolas"/>
              <a:buNone/>
            </a:pPr>
            <a:r>
              <a:rPr b="0" i="0" lang="en-GB" sz="1000" u="none" cap="none" strike="noStrike">
                <a:solidFill>
                  <a:srgbClr val="2C3E50"/>
                </a:solidFill>
                <a:latin typeface="Consolas"/>
                <a:ea typeface="Consolas"/>
                <a:cs typeface="Consolas"/>
                <a:sym typeface="Consolas"/>
              </a:rPr>
              <a:t>0.45     0.66     197 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libri"/>
              <a:buNone/>
            </a:pPr>
            <a:r>
              <a:rPr b="1" i="0" lang="en-GB" sz="4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✅ Key Findings &amp; Solutions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640075" y="1274750"/>
            <a:ext cx="1695000" cy="604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/>
          <p:nvPr/>
        </p:nvSpPr>
        <p:spPr>
          <a:xfrm>
            <a:off x="777240" y="1444752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1️⃣ Class Imbalance is Critical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2468880" y="141732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SMOTE balanced fraud/normal ratio from 1:99 to 1:1 in training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640075" y="2330750"/>
            <a:ext cx="1695000" cy="504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5"/>
          <p:cNvSpPr/>
          <p:nvPr/>
        </p:nvSpPr>
        <p:spPr>
          <a:xfrm>
            <a:off x="777240" y="2473322"/>
            <a:ext cx="1371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2️⃣ Default Threshold Fails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2468880" y="2445890"/>
            <a:ext cx="594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Custom threshold (0.45) catches 66% of fraud vs default 0.5 catching 37%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640075" y="3287150"/>
            <a:ext cx="169500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5"/>
          <p:cNvSpPr/>
          <p:nvPr/>
        </p:nvSpPr>
        <p:spPr>
          <a:xfrm>
            <a:off x="777250" y="3378653"/>
            <a:ext cx="137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3️⃣ Temporal Patterns Matter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2468880" y="3378598"/>
            <a:ext cx="594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Fraudsters peak at </a:t>
            </a:r>
            <a:r>
              <a:rPr lang="en-GB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-GB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GB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 , 4 PM </a:t>
            </a:r>
            <a:r>
              <a:rPr lang="en-GB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0" i="0" lang="en-GB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Sunday peak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613975" y="4059950"/>
            <a:ext cx="169500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5"/>
          <p:cNvSpPr/>
          <p:nvPr/>
        </p:nvSpPr>
        <p:spPr>
          <a:xfrm>
            <a:off x="707875" y="4133143"/>
            <a:ext cx="1371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4️⃣ Simpler is Better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2468880" y="4188043"/>
            <a:ext cx="594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Logistic Regression outperformed Random Forest — faster &amp; more interpretable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6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GB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Conclusion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6"/>
          <p:cNvSpPr/>
          <p:nvPr/>
        </p:nvSpPr>
        <p:spPr>
          <a:xfrm>
            <a:off x="731520" y="2103120"/>
            <a:ext cx="768096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6"/>
          <p:cNvSpPr/>
          <p:nvPr/>
        </p:nvSpPr>
        <p:spPr>
          <a:xfrm>
            <a:off x="1097280" y="2560320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300"/>
              <a:buFont typeface="Calibri"/>
              <a:buNone/>
            </a:pPr>
            <a:r>
              <a:rPr b="0" i="0" lang="en-GB" sz="13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● This project demonstrates production-ready ML engineering applied to fraud detection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6"/>
          <p:cNvSpPr/>
          <p:nvPr/>
        </p:nvSpPr>
        <p:spPr>
          <a:xfrm>
            <a:off x="1097280" y="3108960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300"/>
              <a:buFont typeface="Calibri"/>
              <a:buNone/>
            </a:pPr>
            <a:r>
              <a:rPr b="0" i="0" lang="en-GB" sz="13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● Smart techniques (SMOTE, threshold tuning, feature engineering) overcome class imbalance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6"/>
          <p:cNvSpPr/>
          <p:nvPr/>
        </p:nvSpPr>
        <p:spPr>
          <a:xfrm>
            <a:off x="1097280" y="3657600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300"/>
              <a:buFont typeface="Calibri"/>
              <a:buNone/>
            </a:pPr>
            <a:r>
              <a:rPr b="0" i="0" lang="en-GB" sz="13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● Logistic Regression baseline proved simpler models can outperform complex ensembles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6"/>
          <p:cNvSpPr/>
          <p:nvPr/>
        </p:nvSpPr>
        <p:spPr>
          <a:xfrm>
            <a:off x="1097280" y="4206240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300"/>
              <a:buFont typeface="Calibri"/>
              <a:buNone/>
            </a:pPr>
            <a:r>
              <a:rPr b="0" i="0" lang="en-GB" sz="13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● Real-world trade-offs between catching fraud and false alarms are properly managed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